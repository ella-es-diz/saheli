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DM Sans" pitchFamily="34" charset="0"/>
      <p:regular r:id="rId14"/>
      <p:bold r:id="rId15"/>
    </p:embeddedFont>
    <p:embeddedFont>
      <p:font typeface="Fraunces" pitchFamily="18"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2E0F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038350"/>
            <a:ext cx="6350000" cy="1397000"/>
          </a:xfrm>
          <a:prstGeom prst="rect">
            <a:avLst/>
          </a:prstGeom>
          <a:noFill/>
          <a:ln/>
        </p:spPr>
        <p:txBody>
          <a:bodyPr wrap="square" lIns="0" tIns="0" rIns="0" bIns="0" rtlCol="0" anchor="t"/>
          <a:lstStyle>
            <a:lvl1pPr algn="l" indent="0" marL="0">
              <a:lnSpc>
                <a:spcPct val="110000"/>
              </a:lnSpc>
              <a:buNone/>
              <a:defRPr lang="en-US" sz="11000" dirty="0">
                <a:solidFill>
                  <a:srgbClr val="FBF0F3"/>
                </a:solidFill>
                <a:latin typeface="Fraunces" pitchFamily="34" charset="0"/>
                <a:ea typeface="Fraunces" pitchFamily="34" charset="-122"/>
                <a:cs typeface="Fraunces" pitchFamily="34" charset="-120"/>
              </a:defRPr>
            </a:lvl1pPr>
          </a:lstStyle>
          <a:p>
            <a:pPr algn="l" indent="0" marL="0">
              <a:lnSpc>
                <a:spcPct val="110000"/>
              </a:lnSpc>
              <a:buNone/>
            </a:pPr>
            <a:endParaRPr lang="en-US" sz="11000" dirty="0"/>
          </a:p>
        </p:txBody>
      </p:sp>
      <p:sp>
        <p:nvSpPr>
          <p:cNvPr id="3" name="Text Placeholder 2"/>
          <p:cNvSpPr/>
          <p:nvPr>
            <p:ph idx="101" type="body"/>
          </p:nvPr>
        </p:nvSpPr>
        <p:spPr>
          <a:xfrm>
            <a:off x="812800" y="3740150"/>
            <a:ext cx="10566400" cy="2305050"/>
          </a:xfrm>
          <a:prstGeom prst="rect">
            <a:avLst/>
          </a:prstGeom>
          <a:noFill/>
          <a:ln/>
        </p:spPr>
        <p:txBody>
          <a:bodyPr wrap="square" lIns="0" tIns="0" rIns="0" bIns="0" rtlCol="0" anchor="t"/>
          <a:lstStyle>
            <a:lvl1pPr algn="l" indent="0" marL="0">
              <a:lnSpc>
                <a:spcPct val="140000"/>
              </a:lnSpc>
              <a:buNone/>
              <a:defRPr lang="en-US" sz="1600" dirty="0">
                <a:solidFill>
                  <a:srgbClr val="FBF0F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E0F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038350"/>
            <a:ext cx="6350000" cy="1397000"/>
          </a:xfrm>
          <a:prstGeom prst="rect">
            <a:avLst/>
          </a:prstGeom>
          <a:noFill/>
          <a:ln/>
        </p:spPr>
        <p:txBody>
          <a:bodyPr wrap="square" lIns="0" tIns="0" rIns="0" bIns="0" rtlCol="0" anchor="t"/>
          <a:lstStyle>
            <a:lvl1pPr algn="l" indent="0" marL="0">
              <a:lnSpc>
                <a:spcPct val="110000"/>
              </a:lnSpc>
              <a:buNone/>
              <a:defRPr lang="en-US" sz="11000" dirty="0">
                <a:solidFill>
                  <a:srgbClr val="FBF0F3"/>
                </a:solidFill>
                <a:latin typeface="Fraunces" pitchFamily="34" charset="0"/>
                <a:ea typeface="Fraunces" pitchFamily="34" charset="-122"/>
                <a:cs typeface="Fraunces" pitchFamily="34" charset="-120"/>
              </a:defRPr>
            </a:lvl1pPr>
          </a:lstStyle>
          <a:p>
            <a:pPr algn="l" indent="0" marL="0">
              <a:lnSpc>
                <a:spcPct val="110000"/>
              </a:lnSpc>
              <a:buNone/>
            </a:pPr>
            <a:endParaRPr lang="en-US" sz="11000" dirty="0"/>
          </a:p>
        </p:txBody>
      </p:sp>
      <p:sp>
        <p:nvSpPr>
          <p:cNvPr id="3" name="Text Placeholder 2"/>
          <p:cNvSpPr/>
          <p:nvPr>
            <p:ph idx="101" type="body"/>
          </p:nvPr>
        </p:nvSpPr>
        <p:spPr>
          <a:xfrm>
            <a:off x="812800" y="3740150"/>
            <a:ext cx="10566400" cy="2305050"/>
          </a:xfrm>
          <a:prstGeom prst="rect">
            <a:avLst/>
          </a:prstGeom>
          <a:noFill/>
          <a:ln/>
        </p:spPr>
        <p:txBody>
          <a:bodyPr wrap="square" lIns="0" tIns="0" rIns="0" bIns="0" rtlCol="0" anchor="t"/>
          <a:lstStyle>
            <a:lvl1pPr algn="l" indent="0" marL="0">
              <a:lnSpc>
                <a:spcPct val="140000"/>
              </a:lnSpc>
              <a:buNone/>
              <a:defRPr lang="en-US" sz="1600" dirty="0">
                <a:solidFill>
                  <a:srgbClr val="FBF0F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F26"/>
        </a:solidFill>
      </p:bgPr>
    </p:bg>
    <p:spTree>
      <p:nvGrpSpPr>
        <p:cNvPr id="1" name=""/>
        <p:cNvGrpSpPr/>
        <p:nvPr/>
      </p:nvGrpSpPr>
      <p:grpSpPr>
        <a:xfrm>
          <a:off x="0" y="0"/>
          <a:ext cx="0" cy="0"/>
          <a:chOff x="0" y="0"/>
          <a:chExt cx="0" cy="0"/>
        </a:xfrm>
      </p:grpSpPr>
      <p:pic>
        <p:nvPicPr>
          <p:cNvPr id="2" name="Image 0" descr="Saheli welcome screen">    </p:cNvPr>
          <p:cNvPicPr>
            <a:picLocks noChangeAspect="1"/>
          </p:cNvPicPr>
          <p:nvPr/>
        </p:nvPicPr>
        <p:blipFill>
          <a:blip r:embed="rId1"/>
          <a:srcRect l="0" r="0" t="0" b="0"/>
          <a:stretch/>
        </p:blipFill>
        <p:spPr>
          <a:xfrm>
            <a:off x="8255000" y="571500"/>
            <a:ext cx="2857500" cy="5715000"/>
          </a:xfrm>
          <a:prstGeom prst="rect">
            <a:avLst/>
          </a:prstGeom>
        </p:spPr>
      </p:pic>
      <p:sp>
        <p:nvSpPr>
          <p:cNvPr id="3" name="Text 0"/>
          <p:cNvSpPr/>
          <p:nvPr/>
        </p:nvSpPr>
        <p:spPr>
          <a:xfrm>
            <a:off x="812800" y="1612900"/>
            <a:ext cx="6540500"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D9A441"/>
                </a:solidFill>
                <a:latin typeface="DM Sans" pitchFamily="34" charset="0"/>
                <a:ea typeface="DM Sans" pitchFamily="34" charset="-122"/>
                <a:cs typeface="DM Sans" pitchFamily="34" charset="-120"/>
              </a:rPr>
              <a:t>REHERSION · NITK SURATHKAL</a:t>
            </a:r>
            <a:endParaRPr lang="en-US" sz="1400" dirty="0"/>
          </a:p>
        </p:txBody>
      </p:sp>
      <p:sp>
        <p:nvSpPr>
          <p:cNvPr id="4" name="Text 1"/>
          <p:cNvSpPr/>
          <p:nvPr>
            <p:ph type="title"/>
          </p:nvPr>
        </p:nvSpPr>
        <p:spPr>
          <a:xfrm>
            <a:off x="812800" y="2038350"/>
            <a:ext cx="6540500" cy="1422400"/>
          </a:xfrm>
          <a:prstGeom prst="rect">
            <a:avLst/>
          </a:prstGeom>
          <a:noFill/>
          <a:ln/>
        </p:spPr>
        <p:txBody>
          <a:bodyPr wrap="square" lIns="0" tIns="0" rIns="0" bIns="0" rtlCol="0" anchor="t">
            <a:normAutofit/>
          </a:bodyPr>
          <a:lstStyle/>
          <a:p>
            <a:pPr algn="l" indent="0" marL="0">
              <a:lnSpc>
                <a:spcPts val="11000"/>
              </a:lnSpc>
              <a:buNone/>
            </a:pPr>
            <a:r>
              <a:rPr lang="en-US" sz="11000" b="1" i="0" dirty="0">
                <a:solidFill>
                  <a:srgbClr val="FBF0F3"/>
                </a:solidFill>
                <a:latin typeface="Fraunces" pitchFamily="18" charset="0"/>
                <a:ea typeface="Fraunces" pitchFamily="18" charset="-122"/>
                <a:cs typeface="Fraunces" pitchFamily="18" charset="-120"/>
              </a:rPr>
              <a:t>Saheli</a:t>
            </a:r>
            <a:endParaRPr lang="en-US" sz="11000" dirty="0"/>
          </a:p>
        </p:txBody>
      </p:sp>
      <p:sp>
        <p:nvSpPr>
          <p:cNvPr id="5" name="Text 2"/>
          <p:cNvSpPr/>
          <p:nvPr/>
        </p:nvSpPr>
        <p:spPr>
          <a:xfrm>
            <a:off x="812800" y="3613150"/>
            <a:ext cx="6540500" cy="463550"/>
          </a:xfrm>
          <a:prstGeom prst="rect">
            <a:avLst/>
          </a:prstGeom>
          <a:noFill/>
          <a:ln/>
        </p:spPr>
        <p:txBody>
          <a:bodyPr wrap="square" lIns="0" tIns="0" rIns="0" bIns="0" rtlCol="0" anchor="t">
            <a:normAutofit/>
          </a:bodyPr>
          <a:lstStyle/>
          <a:p>
            <a:pPr algn="l" indent="0" marL="0">
              <a:lnSpc>
                <a:spcPts val="3450"/>
              </a:lnSpc>
              <a:buNone/>
            </a:pPr>
            <a:r>
              <a:rPr lang="en-US" sz="3000" dirty="0">
                <a:solidFill>
                  <a:srgbClr val="F2B8C8"/>
                </a:solidFill>
                <a:latin typeface="Fraunces" pitchFamily="18" charset="0"/>
                <a:ea typeface="Fraunces" pitchFamily="18" charset="-122"/>
                <a:cs typeface="Fraunces" pitchFamily="18" charset="-120"/>
              </a:rPr>
              <a:t>Your safety. Your support.</a:t>
            </a:r>
            <a:endParaRPr lang="en-US" sz="3000" dirty="0"/>
          </a:p>
        </p:txBody>
      </p:sp>
      <p:sp>
        <p:nvSpPr>
          <p:cNvPr id="6" name="Text 3"/>
          <p:cNvSpPr/>
          <p:nvPr/>
        </p:nvSpPr>
        <p:spPr>
          <a:xfrm>
            <a:off x="812800" y="4204573"/>
            <a:ext cx="5886450"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D8BFCB"/>
                </a:solidFill>
                <a:latin typeface="DM Sans" pitchFamily="34" charset="0"/>
                <a:ea typeface="DM Sans" pitchFamily="34" charset="-122"/>
                <a:cs typeface="DM Sans" pitchFamily="34" charset="-120"/>
              </a:rPr>
              <a:t>Your companion in times of need</a:t>
            </a:r>
            <a:endParaRPr lang="en-US" sz="1600" dirty="0"/>
          </a:p>
        </p:txBody>
      </p:sp>
      <p:sp>
        <p:nvSpPr>
          <p:cNvPr id="7" name="Text 4"/>
          <p:cNvSpPr/>
          <p:nvPr/>
        </p:nvSpPr>
        <p:spPr>
          <a:xfrm>
            <a:off x="812800" y="5028724"/>
            <a:ext cx="58864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C7A8D"/>
                </a:solidFill>
                <a:latin typeface="DM Sans" pitchFamily="34" charset="0"/>
                <a:ea typeface="DM Sans" pitchFamily="34" charset="-122"/>
                <a:cs typeface="DM Sans" pitchFamily="34" charset="-120"/>
              </a:rPr>
              <a:t>Team Malkins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0F3"/>
        </a:solidFill>
      </p:bgPr>
    </p:bg>
    <p:spTree>
      <p:nvGrpSpPr>
        <p:cNvPr id="1" name=""/>
        <p:cNvGrpSpPr/>
        <p:nvPr/>
      </p:nvGrpSpPr>
      <p:grpSpPr>
        <a:xfrm>
          <a:off x="0" y="0"/>
          <a:ext cx="0" cy="0"/>
          <a:chOff x="0" y="0"/>
          <a:chExt cx="0" cy="0"/>
        </a:xfrm>
      </p:grpSpPr>
      <p:sp>
        <p:nvSpPr>
          <p:cNvPr id="2" name="Text 0"/>
          <p:cNvSpPr/>
          <p:nvPr/>
        </p:nvSpPr>
        <p:spPr>
          <a:xfrm>
            <a:off x="812800" y="1441450"/>
            <a:ext cx="58864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4A62"/>
                </a:solidFill>
                <a:latin typeface="DM Sans" pitchFamily="34" charset="0"/>
                <a:ea typeface="DM Sans" pitchFamily="34" charset="-122"/>
                <a:cs typeface="DM Sans" pitchFamily="34" charset="-120"/>
              </a:rPr>
              <a:t>THE HOME SCREEN</a:t>
            </a:r>
            <a:endParaRPr lang="en-US" sz="1300" dirty="0"/>
          </a:p>
        </p:txBody>
      </p:sp>
      <p:sp>
        <p:nvSpPr>
          <p:cNvPr id="3" name="Text 1"/>
          <p:cNvSpPr/>
          <p:nvPr>
            <p:ph type="title"/>
          </p:nvPr>
        </p:nvSpPr>
        <p:spPr>
          <a:xfrm>
            <a:off x="812800" y="1850390"/>
            <a:ext cx="6540500" cy="10871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4A1B38"/>
                </a:solidFill>
                <a:latin typeface="Fraunces" pitchFamily="18" charset="0"/>
                <a:ea typeface="Fraunces" pitchFamily="18" charset="-122"/>
                <a:cs typeface="Fraunces" pitchFamily="18" charset="-120"/>
              </a:rPr>
              <a:t>Hold once, and your people know</a:t>
            </a:r>
            <a:endParaRPr lang="en-US" sz="3800" dirty="0"/>
          </a:p>
        </p:txBody>
      </p:sp>
      <p:sp>
        <p:nvSpPr>
          <p:cNvPr id="4" name="Shape 2"/>
          <p:cNvSpPr/>
          <p:nvPr/>
        </p:nvSpPr>
        <p:spPr>
          <a:xfrm>
            <a:off x="815975" y="3093085"/>
            <a:ext cx="6343650" cy="969010"/>
          </a:xfrm>
          <a:prstGeom prst="roundRect">
            <a:avLst>
              <a:gd name="adj" fmla="val 12779"/>
            </a:avLst>
          </a:prstGeom>
          <a:solidFill>
            <a:srgbClr val="FFFFFF"/>
          </a:solidFill>
          <a:ln w="6350">
            <a:solidFill>
              <a:srgbClr val="EBD3DC"/>
            </a:solidFill>
            <a:prstDash val="solid"/>
          </a:ln>
        </p:spPr>
      </p:sp>
      <p:sp>
        <p:nvSpPr>
          <p:cNvPr id="5" name="Text 3"/>
          <p:cNvSpPr/>
          <p:nvPr/>
        </p:nvSpPr>
        <p:spPr>
          <a:xfrm>
            <a:off x="1046480" y="3298190"/>
            <a:ext cx="60591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A3558"/>
                </a:solidFill>
                <a:latin typeface="DM Sans" pitchFamily="34" charset="0"/>
                <a:ea typeface="DM Sans" pitchFamily="34" charset="-122"/>
                <a:cs typeface="DM Sans" pitchFamily="34" charset="-120"/>
              </a:rPr>
              <a:t>SOS</a:t>
            </a:r>
            <a:endParaRPr lang="en-US" sz="1700" dirty="0"/>
          </a:p>
        </p:txBody>
      </p:sp>
      <p:sp>
        <p:nvSpPr>
          <p:cNvPr id="6" name="Text 4"/>
          <p:cNvSpPr/>
          <p:nvPr/>
        </p:nvSpPr>
        <p:spPr>
          <a:xfrm>
            <a:off x="1046480" y="3608070"/>
            <a:ext cx="61099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755"/>
                </a:solidFill>
                <a:latin typeface="DM Sans" pitchFamily="34" charset="0"/>
                <a:ea typeface="DM Sans" pitchFamily="34" charset="-122"/>
                <a:cs typeface="DM Sans" pitchFamily="34" charset="-120"/>
              </a:rPr>
              <a:t>Hold the button to alert trusted contacts and share your live location.</a:t>
            </a:r>
            <a:endParaRPr lang="en-US" sz="1400" dirty="0"/>
          </a:p>
        </p:txBody>
      </p:sp>
      <p:sp>
        <p:nvSpPr>
          <p:cNvPr id="7" name="Shape 5"/>
          <p:cNvSpPr/>
          <p:nvPr/>
        </p:nvSpPr>
        <p:spPr>
          <a:xfrm>
            <a:off x="815975" y="4195445"/>
            <a:ext cx="6343650" cy="1217930"/>
          </a:xfrm>
          <a:prstGeom prst="roundRect">
            <a:avLst>
              <a:gd name="adj" fmla="val 10167"/>
            </a:avLst>
          </a:prstGeom>
          <a:solidFill>
            <a:srgbClr val="FFFFFF"/>
          </a:solidFill>
          <a:ln w="6350">
            <a:solidFill>
              <a:srgbClr val="EBD3DC"/>
            </a:solidFill>
            <a:prstDash val="solid"/>
          </a:ln>
        </p:spPr>
      </p:sp>
      <p:sp>
        <p:nvSpPr>
          <p:cNvPr id="8" name="Text 6"/>
          <p:cNvSpPr/>
          <p:nvPr/>
        </p:nvSpPr>
        <p:spPr>
          <a:xfrm>
            <a:off x="1046480" y="4400550"/>
            <a:ext cx="60591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A3558"/>
                </a:solidFill>
                <a:latin typeface="DM Sans" pitchFamily="34" charset="0"/>
                <a:ea typeface="DM Sans" pitchFamily="34" charset="-122"/>
                <a:cs typeface="DM Sans" pitchFamily="34" charset="-120"/>
              </a:rPr>
              <a:t>Quick actions</a:t>
            </a:r>
            <a:endParaRPr lang="en-US" sz="1700" dirty="0"/>
          </a:p>
        </p:txBody>
      </p:sp>
      <p:sp>
        <p:nvSpPr>
          <p:cNvPr id="9" name="Text 7"/>
          <p:cNvSpPr/>
          <p:nvPr/>
        </p:nvSpPr>
        <p:spPr>
          <a:xfrm>
            <a:off x="1046480" y="4710430"/>
            <a:ext cx="605911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755"/>
                </a:solidFill>
                <a:latin typeface="DM Sans" pitchFamily="34" charset="0"/>
                <a:ea typeface="DM Sans" pitchFamily="34" charset="-122"/>
                <a:cs typeface="DM Sans" pitchFamily="34" charset="-120"/>
              </a:rPr>
              <a:t>Safety check-in, trusted circle, fake call and check-in timer, one tap away.</a:t>
            </a:r>
            <a:endParaRPr lang="en-US" sz="1400" dirty="0"/>
          </a:p>
        </p:txBody>
      </p:sp>
      <p:pic>
        <p:nvPicPr>
          <p:cNvPr id="10" name="Image 0" descr="Saheli home screen with SOS button">    </p:cNvPr>
          <p:cNvPicPr>
            <a:picLocks noChangeAspect="1"/>
          </p:cNvPicPr>
          <p:nvPr/>
        </p:nvPicPr>
        <p:blipFill>
          <a:blip r:embed="rId1"/>
          <a:srcRect l="0" r="0" t="-133" b="-133"/>
          <a:stretch/>
        </p:blipFill>
        <p:spPr>
          <a:xfrm>
            <a:off x="8051800" y="812800"/>
            <a:ext cx="2616200" cy="523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4EA"/>
        </a:solidFill>
      </p:bgPr>
    </p:bg>
    <p:spTree>
      <p:nvGrpSpPr>
        <p:cNvPr id="1" name=""/>
        <p:cNvGrpSpPr/>
        <p:nvPr/>
      </p:nvGrpSpPr>
      <p:grpSpPr>
        <a:xfrm>
          <a:off x="0" y="0"/>
          <a:ext cx="0" cy="0"/>
          <a:chOff x="0" y="0"/>
          <a:chExt cx="0" cy="0"/>
        </a:xfrm>
      </p:grpSpPr>
      <p:sp>
        <p:nvSpPr>
          <p:cNvPr id="2" name="Text 0"/>
          <p:cNvSpPr/>
          <p:nvPr/>
        </p:nvSpPr>
        <p:spPr>
          <a:xfrm>
            <a:off x="812800" y="1291591"/>
            <a:ext cx="45783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4A62"/>
                </a:solidFill>
                <a:latin typeface="DM Sans" pitchFamily="34" charset="0"/>
                <a:ea typeface="DM Sans" pitchFamily="34" charset="-122"/>
                <a:cs typeface="DM Sans" pitchFamily="34" charset="-120"/>
              </a:rPr>
              <a:t>BEFORE YOU LEAVE</a:t>
            </a:r>
            <a:endParaRPr lang="en-US" sz="1300" dirty="0"/>
          </a:p>
        </p:txBody>
      </p:sp>
      <p:sp>
        <p:nvSpPr>
          <p:cNvPr id="3" name="Text 1"/>
          <p:cNvSpPr/>
          <p:nvPr>
            <p:ph type="title"/>
          </p:nvPr>
        </p:nvSpPr>
        <p:spPr>
          <a:xfrm>
            <a:off x="812800" y="1700530"/>
            <a:ext cx="4578350" cy="10871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4A1B38"/>
                </a:solidFill>
                <a:latin typeface="Fraunces" pitchFamily="18" charset="0"/>
                <a:ea typeface="Fraunces" pitchFamily="18" charset="-122"/>
                <a:cs typeface="Fraunces" pitchFamily="18" charset="-120"/>
              </a:rPr>
              <a:t>Getting there, safer</a:t>
            </a:r>
            <a:endParaRPr lang="en-US" sz="3800" dirty="0"/>
          </a:p>
        </p:txBody>
      </p:sp>
      <p:sp>
        <p:nvSpPr>
          <p:cNvPr id="4" name="Shape 2"/>
          <p:cNvSpPr/>
          <p:nvPr/>
        </p:nvSpPr>
        <p:spPr>
          <a:xfrm>
            <a:off x="815975" y="2943225"/>
            <a:ext cx="4438650" cy="1217930"/>
          </a:xfrm>
          <a:prstGeom prst="roundRect">
            <a:avLst>
              <a:gd name="adj" fmla="val 10167"/>
            </a:avLst>
          </a:prstGeom>
          <a:solidFill>
            <a:srgbClr val="FFFFFF"/>
          </a:solidFill>
          <a:ln w="6350">
            <a:solidFill>
              <a:srgbClr val="EBD3DC"/>
            </a:solidFill>
            <a:prstDash val="solid"/>
          </a:ln>
        </p:spPr>
      </p:sp>
      <p:sp>
        <p:nvSpPr>
          <p:cNvPr id="5" name="Text 3"/>
          <p:cNvSpPr/>
          <p:nvPr/>
        </p:nvSpPr>
        <p:spPr>
          <a:xfrm>
            <a:off x="1046480" y="3148330"/>
            <a:ext cx="40969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A3558"/>
                </a:solidFill>
                <a:latin typeface="DM Sans" pitchFamily="34" charset="0"/>
                <a:ea typeface="DM Sans" pitchFamily="34" charset="-122"/>
                <a:cs typeface="DM Sans" pitchFamily="34" charset="-120"/>
              </a:rPr>
              <a:t>Safer route</a:t>
            </a:r>
            <a:endParaRPr lang="en-US" sz="1700" dirty="0"/>
          </a:p>
        </p:txBody>
      </p:sp>
      <p:sp>
        <p:nvSpPr>
          <p:cNvPr id="6" name="Text 4"/>
          <p:cNvSpPr/>
          <p:nvPr/>
        </p:nvSpPr>
        <p:spPr>
          <a:xfrm>
            <a:off x="1046480" y="3458211"/>
            <a:ext cx="409696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755"/>
                </a:solidFill>
                <a:latin typeface="DM Sans" pitchFamily="34" charset="0"/>
                <a:ea typeface="DM Sans" pitchFamily="34" charset="-122"/>
                <a:cs typeface="DM Sans" pitchFamily="34" charset="-120"/>
              </a:rPr>
              <a:t>Suggests a path along well-lit roads and near police stations, with time and distance.</a:t>
            </a:r>
            <a:endParaRPr lang="en-US" sz="1400" dirty="0"/>
          </a:p>
        </p:txBody>
      </p:sp>
      <p:sp>
        <p:nvSpPr>
          <p:cNvPr id="7" name="Shape 5"/>
          <p:cNvSpPr/>
          <p:nvPr/>
        </p:nvSpPr>
        <p:spPr>
          <a:xfrm>
            <a:off x="815975" y="4345305"/>
            <a:ext cx="4438650" cy="1217930"/>
          </a:xfrm>
          <a:prstGeom prst="roundRect">
            <a:avLst>
              <a:gd name="adj" fmla="val 10167"/>
            </a:avLst>
          </a:prstGeom>
          <a:solidFill>
            <a:srgbClr val="FFFFFF"/>
          </a:solidFill>
          <a:ln w="6350">
            <a:solidFill>
              <a:srgbClr val="EBD3DC"/>
            </a:solidFill>
            <a:prstDash val="solid"/>
          </a:ln>
        </p:spPr>
      </p:sp>
      <p:sp>
        <p:nvSpPr>
          <p:cNvPr id="8" name="Text 6"/>
          <p:cNvSpPr/>
          <p:nvPr/>
        </p:nvSpPr>
        <p:spPr>
          <a:xfrm>
            <a:off x="1046480" y="4550411"/>
            <a:ext cx="40969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A3558"/>
                </a:solidFill>
                <a:latin typeface="DM Sans" pitchFamily="34" charset="0"/>
                <a:ea typeface="DM Sans" pitchFamily="34" charset="-122"/>
                <a:cs typeface="DM Sans" pitchFamily="34" charset="-120"/>
              </a:rPr>
              <a:t>Journey update</a:t>
            </a:r>
            <a:endParaRPr lang="en-US" sz="1700" dirty="0"/>
          </a:p>
        </p:txBody>
      </p:sp>
      <p:sp>
        <p:nvSpPr>
          <p:cNvPr id="9" name="Text 7"/>
          <p:cNvSpPr/>
          <p:nvPr/>
        </p:nvSpPr>
        <p:spPr>
          <a:xfrm>
            <a:off x="1046480" y="4860291"/>
            <a:ext cx="409696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755"/>
                </a:solidFill>
                <a:latin typeface="DM Sans" pitchFamily="34" charset="0"/>
                <a:ea typeface="DM Sans" pitchFamily="34" charset="-122"/>
                <a:cs typeface="DM Sans" pitchFamily="34" charset="-120"/>
              </a:rPr>
              <a:t>Share where you are going and when you expect to arrive, with only the contacts you pick.</a:t>
            </a:r>
            <a:endParaRPr lang="en-US" sz="1400" dirty="0"/>
          </a:p>
        </p:txBody>
      </p:sp>
      <p:pic>
        <p:nvPicPr>
          <p:cNvPr id="10" name="Image 0" descr="Safer route map">    </p:cNvPr>
          <p:cNvPicPr>
            <a:picLocks noChangeAspect="1"/>
          </p:cNvPicPr>
          <p:nvPr/>
        </p:nvPicPr>
        <p:blipFill>
          <a:blip r:embed="rId1"/>
          <a:srcRect l="0" r="0" t="-1018" b="-1018"/>
          <a:stretch/>
        </p:blipFill>
        <p:spPr>
          <a:xfrm>
            <a:off x="5892800" y="1016000"/>
            <a:ext cx="2413000" cy="4826000"/>
          </a:xfrm>
          <a:prstGeom prst="rect">
            <a:avLst/>
          </a:prstGeom>
        </p:spPr>
      </p:pic>
      <p:pic>
        <p:nvPicPr>
          <p:cNvPr id="11" name="Image 1" descr="Share a journey update">    </p:cNvPr>
          <p:cNvPicPr>
            <a:picLocks noChangeAspect="1"/>
          </p:cNvPicPr>
          <p:nvPr/>
        </p:nvPicPr>
        <p:blipFill>
          <a:blip r:embed="rId2"/>
          <a:srcRect l="0" r="0" t="-1293" b="-1293"/>
          <a:stretch/>
        </p:blipFill>
        <p:spPr>
          <a:xfrm>
            <a:off x="8559800" y="1016000"/>
            <a:ext cx="2413000" cy="482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0F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4A1B38"/>
                </a:solidFill>
                <a:latin typeface="Fraunces" pitchFamily="18" charset="0"/>
                <a:ea typeface="Fraunces" pitchFamily="18" charset="-122"/>
                <a:cs typeface="Fraunces" pitchFamily="18" charset="-120"/>
              </a:rPr>
              <a:t>Your circle, your call</a:t>
            </a:r>
            <a:endParaRPr lang="en-US" sz="3600" dirty="0"/>
          </a:p>
        </p:txBody>
      </p:sp>
      <p:pic>
        <p:nvPicPr>
          <p:cNvPr id="3" name="Image 0" descr="Trusted circle">    </p:cNvPr>
          <p:cNvPicPr>
            <a:picLocks noChangeAspect="1"/>
          </p:cNvPicPr>
          <p:nvPr/>
        </p:nvPicPr>
        <p:blipFill>
          <a:blip r:embed="rId1"/>
          <a:srcRect l="0" r="0" t="-265" b="-265"/>
          <a:stretch/>
        </p:blipFill>
        <p:spPr>
          <a:xfrm>
            <a:off x="2470150" y="1569720"/>
            <a:ext cx="1714500" cy="3365500"/>
          </a:xfrm>
          <a:prstGeom prst="rect">
            <a:avLst/>
          </a:prstGeom>
        </p:spPr>
      </p:pic>
      <p:sp>
        <p:nvSpPr>
          <p:cNvPr id="4" name="Text 1"/>
          <p:cNvSpPr/>
          <p:nvPr/>
        </p:nvSpPr>
        <p:spPr>
          <a:xfrm>
            <a:off x="2451386" y="5024120"/>
            <a:ext cx="1752029" cy="28448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7A3558"/>
                </a:solidFill>
                <a:latin typeface="DM Sans" pitchFamily="34" charset="0"/>
                <a:ea typeface="DM Sans" pitchFamily="34" charset="-122"/>
                <a:cs typeface="DM Sans" pitchFamily="34" charset="-120"/>
              </a:rPr>
              <a:t>Trusted circle</a:t>
            </a:r>
            <a:endParaRPr lang="en-US" sz="1700" dirty="0"/>
          </a:p>
        </p:txBody>
      </p:sp>
      <p:sp>
        <p:nvSpPr>
          <p:cNvPr id="5" name="Text 2"/>
          <p:cNvSpPr/>
          <p:nvPr/>
        </p:nvSpPr>
        <p:spPr>
          <a:xfrm>
            <a:off x="1234440" y="5372100"/>
            <a:ext cx="4185920" cy="505460"/>
          </a:xfrm>
          <a:prstGeom prst="rect">
            <a:avLst/>
          </a:prstGeom>
          <a:noFill/>
          <a:ln/>
        </p:spPr>
        <p:txBody>
          <a:bodyPr wrap="square" lIns="0" tIns="0" rIns="0" bIns="0" rtlCol="0" anchor="t">
            <a:normAutofit/>
          </a:bodyPr>
          <a:lstStyle/>
          <a:p>
            <a:pPr algn="ctr" indent="0" marL="0">
              <a:lnSpc>
                <a:spcPts val="1890"/>
              </a:lnSpc>
              <a:buNone/>
            </a:pPr>
            <a:r>
              <a:rPr lang="en-US" sz="1400" dirty="0">
                <a:solidFill>
                  <a:srgbClr val="5E4755"/>
                </a:solidFill>
                <a:latin typeface="DM Sans" pitchFamily="34" charset="0"/>
                <a:ea typeface="DM Sans" pitchFamily="34" charset="-122"/>
                <a:cs typeface="DM Sans" pitchFamily="34" charset="-120"/>
              </a:rPr>
              <a:t>Family and friends who receive your SOS and live location.</a:t>
            </a:r>
            <a:endParaRPr lang="en-US" sz="1400" dirty="0"/>
          </a:p>
        </p:txBody>
      </p:sp>
      <p:pic>
        <p:nvPicPr>
          <p:cNvPr id="6" name="Image 1" descr="Check-in timer">    </p:cNvPr>
          <p:cNvPicPr>
            <a:picLocks noChangeAspect="1"/>
          </p:cNvPicPr>
          <p:nvPr/>
        </p:nvPicPr>
        <p:blipFill>
          <a:blip r:embed="rId2"/>
          <a:srcRect l="-3305" r="-3305" t="0" b="0"/>
          <a:stretch/>
        </p:blipFill>
        <p:spPr>
          <a:xfrm>
            <a:off x="8007350" y="1569720"/>
            <a:ext cx="1714500" cy="3365500"/>
          </a:xfrm>
          <a:prstGeom prst="rect">
            <a:avLst/>
          </a:prstGeom>
        </p:spPr>
      </p:pic>
      <p:sp>
        <p:nvSpPr>
          <p:cNvPr id="7" name="Text 3"/>
          <p:cNvSpPr/>
          <p:nvPr/>
        </p:nvSpPr>
        <p:spPr>
          <a:xfrm>
            <a:off x="7892383" y="5024120"/>
            <a:ext cx="1944434" cy="28448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7A3558"/>
                </a:solidFill>
                <a:latin typeface="DM Sans" pitchFamily="34" charset="0"/>
                <a:ea typeface="DM Sans" pitchFamily="34" charset="-122"/>
                <a:cs typeface="DM Sans" pitchFamily="34" charset="-120"/>
              </a:rPr>
              <a:t>Check-in timer</a:t>
            </a:r>
            <a:endParaRPr lang="en-US" sz="1700" dirty="0"/>
          </a:p>
        </p:txBody>
      </p:sp>
      <p:sp>
        <p:nvSpPr>
          <p:cNvPr id="8" name="Text 4"/>
          <p:cNvSpPr/>
          <p:nvPr/>
        </p:nvSpPr>
        <p:spPr>
          <a:xfrm>
            <a:off x="6771640" y="5372100"/>
            <a:ext cx="4185920" cy="505460"/>
          </a:xfrm>
          <a:prstGeom prst="rect">
            <a:avLst/>
          </a:prstGeom>
          <a:noFill/>
          <a:ln/>
        </p:spPr>
        <p:txBody>
          <a:bodyPr wrap="square" lIns="0" tIns="0" rIns="0" bIns="0" rtlCol="0" anchor="t">
            <a:normAutofit/>
          </a:bodyPr>
          <a:lstStyle/>
          <a:p>
            <a:pPr algn="ctr" indent="0" marL="0">
              <a:lnSpc>
                <a:spcPts val="1890"/>
              </a:lnSpc>
              <a:buNone/>
            </a:pPr>
            <a:r>
              <a:rPr lang="en-US" sz="1400" dirty="0">
                <a:solidFill>
                  <a:srgbClr val="5E4755"/>
                </a:solidFill>
                <a:latin typeface="DM Sans" pitchFamily="34" charset="0"/>
                <a:ea typeface="DM Sans" pitchFamily="34" charset="-122"/>
                <a:cs typeface="DM Sans" pitchFamily="34" charset="-120"/>
              </a:rPr>
              <a:t>A gentle reminder to confirm you arrived. You decide who is notified.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1B38"/>
        </a:solidFill>
      </p:bgPr>
    </p:bg>
    <p:spTree>
      <p:nvGrpSpPr>
        <p:cNvPr id="1" name=""/>
        <p:cNvGrpSpPr/>
        <p:nvPr/>
      </p:nvGrpSpPr>
      <p:grpSpPr>
        <a:xfrm>
          <a:off x="0" y="0"/>
          <a:ext cx="0" cy="0"/>
          <a:chOff x="0" y="0"/>
          <a:chExt cx="0" cy="0"/>
        </a:xfrm>
      </p:grpSpPr>
      <p:pic>
        <p:nvPicPr>
          <p:cNvPr id="2" name="Image 0" descr="Fake call screen">    </p:cNvPr>
          <p:cNvPicPr>
            <a:picLocks noChangeAspect="1"/>
          </p:cNvPicPr>
          <p:nvPr/>
        </p:nvPicPr>
        <p:blipFill>
          <a:blip r:embed="rId1"/>
          <a:srcRect l="-68" r="-68" t="0" b="0"/>
          <a:stretch/>
        </p:blipFill>
        <p:spPr>
          <a:xfrm>
            <a:off x="812800" y="812800"/>
            <a:ext cx="2616200" cy="5232400"/>
          </a:xfrm>
          <a:prstGeom prst="rect">
            <a:avLst/>
          </a:prstGeom>
        </p:spPr>
      </p:pic>
      <p:sp>
        <p:nvSpPr>
          <p:cNvPr id="3" name="Text 0"/>
          <p:cNvSpPr/>
          <p:nvPr/>
        </p:nvSpPr>
        <p:spPr>
          <a:xfrm>
            <a:off x="4318000" y="1014732"/>
            <a:ext cx="58864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D9A441"/>
                </a:solidFill>
                <a:latin typeface="DM Sans" pitchFamily="34" charset="0"/>
                <a:ea typeface="DM Sans" pitchFamily="34" charset="-122"/>
                <a:cs typeface="DM Sans" pitchFamily="34" charset="-120"/>
              </a:rPr>
              <a:t>STEP AWAY QUIETLY</a:t>
            </a:r>
            <a:endParaRPr lang="en-US" sz="1300" dirty="0"/>
          </a:p>
        </p:txBody>
      </p:sp>
      <p:sp>
        <p:nvSpPr>
          <p:cNvPr id="4" name="Text 1"/>
          <p:cNvSpPr/>
          <p:nvPr>
            <p:ph type="title"/>
          </p:nvPr>
        </p:nvSpPr>
        <p:spPr>
          <a:xfrm>
            <a:off x="4318000" y="1423671"/>
            <a:ext cx="6540500" cy="10871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BF0F3"/>
                </a:solidFill>
                <a:latin typeface="Fraunces" pitchFamily="18" charset="0"/>
                <a:ea typeface="Fraunces" pitchFamily="18" charset="-122"/>
                <a:cs typeface="Fraunces" pitchFamily="18" charset="-120"/>
              </a:rPr>
              <a:t>A way out, no explanation needed</a:t>
            </a:r>
            <a:endParaRPr lang="en-US" sz="3800" dirty="0"/>
          </a:p>
        </p:txBody>
      </p:sp>
      <p:sp>
        <p:nvSpPr>
          <p:cNvPr id="5" name="Shape 2"/>
          <p:cNvSpPr/>
          <p:nvPr/>
        </p:nvSpPr>
        <p:spPr>
          <a:xfrm>
            <a:off x="4321175" y="2666364"/>
            <a:ext cx="6343650" cy="969010"/>
          </a:xfrm>
          <a:prstGeom prst="roundRect">
            <a:avLst>
              <a:gd name="adj" fmla="val 12779"/>
            </a:avLst>
          </a:prstGeom>
          <a:solidFill>
            <a:srgbClr val="5A2A4C"/>
          </a:solidFill>
          <a:ln w="6350">
            <a:solidFill>
              <a:srgbClr val="6E3B5E"/>
            </a:solidFill>
            <a:prstDash val="solid"/>
          </a:ln>
        </p:spPr>
      </p:sp>
      <p:sp>
        <p:nvSpPr>
          <p:cNvPr id="6" name="Text 3"/>
          <p:cNvSpPr/>
          <p:nvPr/>
        </p:nvSpPr>
        <p:spPr>
          <a:xfrm>
            <a:off x="4551680" y="2871471"/>
            <a:ext cx="60591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8C8"/>
                </a:solidFill>
                <a:latin typeface="DM Sans" pitchFamily="34" charset="0"/>
                <a:ea typeface="DM Sans" pitchFamily="34" charset="-122"/>
                <a:cs typeface="DM Sans" pitchFamily="34" charset="-120"/>
              </a:rPr>
              <a:t>You pick the caller</a:t>
            </a:r>
            <a:endParaRPr lang="en-US" sz="1700" dirty="0"/>
          </a:p>
        </p:txBody>
      </p:sp>
      <p:sp>
        <p:nvSpPr>
          <p:cNvPr id="7" name="Text 4"/>
          <p:cNvSpPr/>
          <p:nvPr/>
        </p:nvSpPr>
        <p:spPr>
          <a:xfrm>
            <a:off x="4551680" y="3181350"/>
            <a:ext cx="6059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CCD7"/>
                </a:solidFill>
                <a:latin typeface="DM Sans" pitchFamily="34" charset="0"/>
                <a:ea typeface="DM Sans" pitchFamily="34" charset="-122"/>
                <a:cs typeface="DM Sans" pitchFamily="34" charset="-120"/>
              </a:rPr>
              <a:t>Set any name, like Maa, so the call looks completely ordinary.</a:t>
            </a:r>
            <a:endParaRPr lang="en-US" sz="1400" dirty="0"/>
          </a:p>
        </p:txBody>
      </p:sp>
      <p:sp>
        <p:nvSpPr>
          <p:cNvPr id="8" name="Shape 5"/>
          <p:cNvSpPr/>
          <p:nvPr/>
        </p:nvSpPr>
        <p:spPr>
          <a:xfrm>
            <a:off x="4321175" y="3768725"/>
            <a:ext cx="6343650" cy="969010"/>
          </a:xfrm>
          <a:prstGeom prst="roundRect">
            <a:avLst>
              <a:gd name="adj" fmla="val 12779"/>
            </a:avLst>
          </a:prstGeom>
          <a:solidFill>
            <a:srgbClr val="5A2A4C"/>
          </a:solidFill>
          <a:ln w="6350">
            <a:solidFill>
              <a:srgbClr val="6E3B5E"/>
            </a:solidFill>
            <a:prstDash val="solid"/>
          </a:ln>
        </p:spPr>
      </p:sp>
      <p:sp>
        <p:nvSpPr>
          <p:cNvPr id="9" name="Text 6"/>
          <p:cNvSpPr/>
          <p:nvPr/>
        </p:nvSpPr>
        <p:spPr>
          <a:xfrm>
            <a:off x="4551680" y="3973832"/>
            <a:ext cx="60591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8C8"/>
                </a:solidFill>
                <a:latin typeface="DM Sans" pitchFamily="34" charset="0"/>
                <a:ea typeface="DM Sans" pitchFamily="34" charset="-122"/>
                <a:cs typeface="DM Sans" pitchFamily="34" charset="-120"/>
              </a:rPr>
              <a:t>You pick the moment</a:t>
            </a:r>
            <a:endParaRPr lang="en-US" sz="1700" dirty="0"/>
          </a:p>
        </p:txBody>
      </p:sp>
      <p:sp>
        <p:nvSpPr>
          <p:cNvPr id="10" name="Text 7"/>
          <p:cNvSpPr/>
          <p:nvPr/>
        </p:nvSpPr>
        <p:spPr>
          <a:xfrm>
            <a:off x="4551680" y="4283711"/>
            <a:ext cx="6059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CCD7"/>
                </a:solidFill>
                <a:latin typeface="DM Sans" pitchFamily="34" charset="0"/>
                <a:ea typeface="DM Sans" pitchFamily="34" charset="-122"/>
                <a:cs typeface="DM Sans" pitchFamily="34" charset="-120"/>
              </a:rPr>
              <a:t>Ring now, or schedule it for 1, 5 or 10 minutes later.</a:t>
            </a:r>
            <a:endParaRPr lang="en-US" sz="1400" dirty="0"/>
          </a:p>
        </p:txBody>
      </p:sp>
      <p:sp>
        <p:nvSpPr>
          <p:cNvPr id="11" name="Shape 8"/>
          <p:cNvSpPr/>
          <p:nvPr/>
        </p:nvSpPr>
        <p:spPr>
          <a:xfrm>
            <a:off x="4321175" y="4871086"/>
            <a:ext cx="6343650" cy="969010"/>
          </a:xfrm>
          <a:prstGeom prst="roundRect">
            <a:avLst>
              <a:gd name="adj" fmla="val 12779"/>
            </a:avLst>
          </a:prstGeom>
          <a:solidFill>
            <a:srgbClr val="5A2A4C"/>
          </a:solidFill>
          <a:ln w="6350">
            <a:solidFill>
              <a:srgbClr val="6E3B5E"/>
            </a:solidFill>
            <a:prstDash val="solid"/>
          </a:ln>
        </p:spPr>
      </p:sp>
      <p:sp>
        <p:nvSpPr>
          <p:cNvPr id="12" name="Text 9"/>
          <p:cNvSpPr/>
          <p:nvPr/>
        </p:nvSpPr>
        <p:spPr>
          <a:xfrm>
            <a:off x="4551680" y="5076189"/>
            <a:ext cx="605911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B8C8"/>
                </a:solidFill>
                <a:latin typeface="DM Sans" pitchFamily="34" charset="0"/>
                <a:ea typeface="DM Sans" pitchFamily="34" charset="-122"/>
                <a:cs typeface="DM Sans" pitchFamily="34" charset="-120"/>
              </a:rPr>
              <a:t>Stays on your phone</a:t>
            </a:r>
            <a:endParaRPr lang="en-US" sz="1700" dirty="0"/>
          </a:p>
        </p:txBody>
      </p:sp>
      <p:sp>
        <p:nvSpPr>
          <p:cNvPr id="13" name="Text 10"/>
          <p:cNvSpPr/>
          <p:nvPr/>
        </p:nvSpPr>
        <p:spPr>
          <a:xfrm>
            <a:off x="4551680" y="5386071"/>
            <a:ext cx="605911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CCD7"/>
                </a:solidFill>
                <a:latin typeface="DM Sans" pitchFamily="34" charset="0"/>
                <a:ea typeface="DM Sans" pitchFamily="34" charset="-122"/>
                <a:cs typeface="DM Sans" pitchFamily="34" charset="-120"/>
              </a:rPr>
              <a:t>The call is simulated on your device and contacts no 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E4EA"/>
        </a:solidFill>
      </p:bgPr>
    </p:bg>
    <p:spTree>
      <p:nvGrpSpPr>
        <p:cNvPr id="1" name=""/>
        <p:cNvGrpSpPr/>
        <p:nvPr/>
      </p:nvGrpSpPr>
      <p:grpSpPr>
        <a:xfrm>
          <a:off x="0" y="0"/>
          <a:ext cx="0" cy="0"/>
          <a:chOff x="0" y="0"/>
          <a:chExt cx="0" cy="0"/>
        </a:xfrm>
      </p:grpSpPr>
      <p:pic>
        <p:nvPicPr>
          <p:cNvPr id="2" name="Image 0" descr="Saheli AI chat">    </p:cNvPr>
          <p:cNvPicPr>
            <a:picLocks noChangeAspect="1"/>
          </p:cNvPicPr>
          <p:nvPr/>
        </p:nvPicPr>
        <p:blipFill>
          <a:blip r:embed="rId1"/>
          <a:srcRect l="0" r="0" t="-798" b="-798"/>
          <a:stretch/>
        </p:blipFill>
        <p:spPr>
          <a:xfrm>
            <a:off x="812800" y="1016000"/>
            <a:ext cx="2413000" cy="4826000"/>
          </a:xfrm>
          <a:prstGeom prst="rect">
            <a:avLst/>
          </a:prstGeom>
        </p:spPr>
      </p:pic>
      <p:pic>
        <p:nvPicPr>
          <p:cNvPr id="3" name="Image 1" descr="Profile and privacy settings">    </p:cNvPr>
          <p:cNvPicPr>
            <a:picLocks noChangeAspect="1"/>
          </p:cNvPicPr>
          <p:nvPr/>
        </p:nvPicPr>
        <p:blipFill>
          <a:blip r:embed="rId2"/>
          <a:srcRect l="-68" r="-68" t="0" b="0"/>
          <a:stretch/>
        </p:blipFill>
        <p:spPr>
          <a:xfrm>
            <a:off x="3479800" y="1016000"/>
            <a:ext cx="2413000" cy="4826000"/>
          </a:xfrm>
          <a:prstGeom prst="rect">
            <a:avLst/>
          </a:prstGeom>
        </p:spPr>
      </p:pic>
      <p:sp>
        <p:nvSpPr>
          <p:cNvPr id="4" name="Text 0"/>
          <p:cNvSpPr/>
          <p:nvPr/>
        </p:nvSpPr>
        <p:spPr>
          <a:xfrm>
            <a:off x="6527800" y="1868171"/>
            <a:ext cx="4578350"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4A62"/>
                </a:solidFill>
                <a:latin typeface="DM Sans" pitchFamily="34" charset="0"/>
                <a:ea typeface="DM Sans" pitchFamily="34" charset="-122"/>
                <a:cs typeface="DM Sans" pitchFamily="34" charset="-120"/>
              </a:rPr>
              <a:t>SUPPORT AND TRUST</a:t>
            </a:r>
            <a:endParaRPr lang="en-US" sz="1300" dirty="0"/>
          </a:p>
        </p:txBody>
      </p:sp>
      <p:sp>
        <p:nvSpPr>
          <p:cNvPr id="5" name="Text 1"/>
          <p:cNvSpPr/>
          <p:nvPr>
            <p:ph type="title"/>
          </p:nvPr>
        </p:nvSpPr>
        <p:spPr>
          <a:xfrm>
            <a:off x="6527800" y="2277111"/>
            <a:ext cx="4578350" cy="10871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4A1B38"/>
                </a:solidFill>
                <a:latin typeface="Fraunces" pitchFamily="18" charset="0"/>
                <a:ea typeface="Fraunces" pitchFamily="18" charset="-122"/>
                <a:cs typeface="Fraunces" pitchFamily="18" charset="-120"/>
              </a:rPr>
              <a:t>Someone to talk to, privately</a:t>
            </a:r>
            <a:endParaRPr lang="en-US" sz="3800" dirty="0"/>
          </a:p>
        </p:txBody>
      </p:sp>
      <p:sp>
        <p:nvSpPr>
          <p:cNvPr id="6" name="Shape 2"/>
          <p:cNvSpPr/>
          <p:nvPr/>
        </p:nvSpPr>
        <p:spPr>
          <a:xfrm>
            <a:off x="6530975" y="3519807"/>
            <a:ext cx="4438650" cy="1466850"/>
          </a:xfrm>
          <a:prstGeom prst="roundRect">
            <a:avLst>
              <a:gd name="adj" fmla="val 8442"/>
            </a:avLst>
          </a:prstGeom>
          <a:solidFill>
            <a:srgbClr val="FFFFFF"/>
          </a:solidFill>
          <a:ln w="6350">
            <a:solidFill>
              <a:srgbClr val="EBD3DC"/>
            </a:solidFill>
            <a:prstDash val="solid"/>
          </a:ln>
        </p:spPr>
      </p:sp>
      <p:sp>
        <p:nvSpPr>
          <p:cNvPr id="7" name="Text 3"/>
          <p:cNvSpPr/>
          <p:nvPr/>
        </p:nvSpPr>
        <p:spPr>
          <a:xfrm>
            <a:off x="6761480" y="3724911"/>
            <a:ext cx="409696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A3558"/>
                </a:solidFill>
                <a:latin typeface="DM Sans" pitchFamily="34" charset="0"/>
                <a:ea typeface="DM Sans" pitchFamily="34" charset="-122"/>
                <a:cs typeface="DM Sans" pitchFamily="34" charset="-120"/>
              </a:rPr>
              <a:t>Saheli AI</a:t>
            </a:r>
            <a:endParaRPr lang="en-US" sz="1700" dirty="0"/>
          </a:p>
        </p:txBody>
      </p:sp>
      <p:sp>
        <p:nvSpPr>
          <p:cNvPr id="8" name="Text 4"/>
          <p:cNvSpPr/>
          <p:nvPr/>
        </p:nvSpPr>
        <p:spPr>
          <a:xfrm>
            <a:off x="6761480" y="4034789"/>
            <a:ext cx="409696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4755"/>
                </a:solidFill>
                <a:latin typeface="DM Sans" pitchFamily="34" charset="0"/>
                <a:ea typeface="DM Sans" pitchFamily="34" charset="-122"/>
                <a:cs typeface="DM Sans" pitchFamily="34" charset="-120"/>
              </a:rPr>
              <a:t>Calm guidance for moments like feeling unsafe, planning a commute or helping a friend. Chats stay private and can be cleared.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E0F26"/>
        </a:solidFill>
      </p:bgPr>
    </p:bg>
    <p:spTree>
      <p:nvGrpSpPr>
        <p:cNvPr id="1" name=""/>
        <p:cNvGrpSpPr/>
        <p:nvPr/>
      </p:nvGrpSpPr>
      <p:grpSpPr>
        <a:xfrm>
          <a:off x="0" y="0"/>
          <a:ext cx="0" cy="0"/>
          <a:chOff x="0" y="0"/>
          <a:chExt cx="0" cy="0"/>
        </a:xfrm>
      </p:grpSpPr>
      <p:sp>
        <p:nvSpPr>
          <p:cNvPr id="2" name="Text 0"/>
          <p:cNvSpPr/>
          <p:nvPr/>
        </p:nvSpPr>
        <p:spPr>
          <a:xfrm>
            <a:off x="812800" y="1129348"/>
            <a:ext cx="1460500" cy="553720"/>
          </a:xfrm>
          <a:custGeom>
            <a:avLst/>
            <a:gdLst/>
            <a:ahLst/>
            <a:cxnLst/>
            <a:rect l="l" t="t" r="r" b="b"/>
            <a:pathLst>
              <a:path w="1460500" h="553720">
                <a:moveTo>
                  <a:pt x="254000" y="0"/>
                </a:moveTo>
                <a:lnTo>
                  <a:pt x="1206500" y="0"/>
                </a:lnTo>
                <a:arcTo hR="254000" wR="254000" stAng="16200000" swAng="5400000"/>
                <a:lnTo>
                  <a:pt x="1460500" y="299720"/>
                </a:lnTo>
                <a:arcTo hR="254000" wR="254000" stAng="0" swAng="5400000"/>
                <a:lnTo>
                  <a:pt x="254000" y="553720"/>
                </a:lnTo>
                <a:arcTo hR="254000" wR="254000" stAng="5400000" swAng="5400000"/>
                <a:lnTo>
                  <a:pt x="0" y="254000"/>
                </a:lnTo>
                <a:arcTo hR="254000" wR="254000" stAng="10800000" swAng="5400000"/>
                <a:close/>
              </a:path>
            </a:pathLst>
          </a:custGeom>
          <a:solidFill>
            <a:srgbClr val="D9A441"/>
          </a:solidFill>
          <a:ln/>
        </p:spPr>
        <p:txBody>
          <a:bodyPr wrap="square" lIns="152400" tIns="63500" rIns="101600" bIns="38100" rtlCol="0" anchor="t">
            <a:normAutofit/>
          </a:bodyPr>
          <a:lstStyle/>
          <a:p>
            <a:pPr algn="l" indent="0" marL="0">
              <a:lnSpc>
                <a:spcPts val="1680"/>
              </a:lnSpc>
              <a:buNone/>
            </a:pPr>
            <a:r>
              <a:rPr lang="en-US" sz="1200" b="1" spc="150" kern="0" dirty="0">
                <a:solidFill>
                  <a:srgbClr val="2E0F26"/>
                </a:solidFill>
                <a:latin typeface="DM Sans" pitchFamily="34" charset="0"/>
                <a:ea typeface="DM Sans" pitchFamily="34" charset="-122"/>
                <a:cs typeface="DM Sans" pitchFamily="34" charset="-120"/>
              </a:rPr>
              <a:t>IN PROGRESS</a:t>
            </a:r>
            <a:endParaRPr lang="en-US" sz="1200" dirty="0"/>
          </a:p>
        </p:txBody>
      </p:sp>
      <p:sp>
        <p:nvSpPr>
          <p:cNvPr id="3" name="Text 1"/>
          <p:cNvSpPr/>
          <p:nvPr>
            <p:ph type="title"/>
          </p:nvPr>
        </p:nvSpPr>
        <p:spPr>
          <a:xfrm>
            <a:off x="812800" y="1860869"/>
            <a:ext cx="6540500" cy="161798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BF0F3"/>
                </a:solidFill>
                <a:latin typeface="Fraunces" pitchFamily="18" charset="0"/>
                <a:ea typeface="Fraunces" pitchFamily="18" charset="-122"/>
                <a:cs typeface="Fraunces" pitchFamily="18" charset="-120"/>
              </a:rPr>
              <a:t>Light and support using drones, when streets feel unsafe</a:t>
            </a:r>
            <a:endParaRPr lang="en-US" sz="3800" dirty="0"/>
          </a:p>
        </p:txBody>
      </p:sp>
      <p:sp>
        <p:nvSpPr>
          <p:cNvPr id="4" name="Text 2"/>
          <p:cNvSpPr/>
          <p:nvPr/>
        </p:nvSpPr>
        <p:spPr>
          <a:xfrm>
            <a:off x="812800" y="3631248"/>
            <a:ext cx="654050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D8BFCB"/>
                </a:solidFill>
                <a:latin typeface="DM Sans" pitchFamily="34" charset="0"/>
                <a:ea typeface="DM Sans" pitchFamily="34" charset="-122"/>
                <a:cs typeface="DM Sans" pitchFamily="34" charset="-120"/>
              </a:rPr>
              <a:t>Our community safety concept: verified local drone partners for temporary pathway lighting and remote monitoring when trusted contacts are unavailable.</a:t>
            </a:r>
            <a:endParaRPr lang="en-US" sz="1500" dirty="0"/>
          </a:p>
        </p:txBody>
      </p:sp>
      <p:sp>
        <p:nvSpPr>
          <p:cNvPr id="5" name="Shape 3"/>
          <p:cNvSpPr/>
          <p:nvPr/>
        </p:nvSpPr>
        <p:spPr>
          <a:xfrm>
            <a:off x="815975" y="4640898"/>
            <a:ext cx="3105150" cy="1084580"/>
          </a:xfrm>
          <a:prstGeom prst="roundRect">
            <a:avLst>
              <a:gd name="adj" fmla="val 11417"/>
            </a:avLst>
          </a:prstGeom>
          <a:solidFill>
            <a:srgbClr val="431A37"/>
          </a:solidFill>
          <a:ln w="6350">
            <a:solidFill>
              <a:srgbClr val="5E2B4D"/>
            </a:solidFill>
            <a:prstDash val="solid"/>
          </a:ln>
        </p:spPr>
      </p:sp>
      <p:sp>
        <p:nvSpPr>
          <p:cNvPr id="6" name="Text 4"/>
          <p:cNvSpPr/>
          <p:nvPr/>
        </p:nvSpPr>
        <p:spPr>
          <a:xfrm>
            <a:off x="995680" y="4820602"/>
            <a:ext cx="28281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B8C8"/>
                </a:solidFill>
                <a:latin typeface="DM Sans" pitchFamily="34" charset="0"/>
                <a:ea typeface="DM Sans" pitchFamily="34" charset="-122"/>
                <a:cs typeface="DM Sans" pitchFamily="34" charset="-120"/>
              </a:rPr>
              <a:t>Pathway lights</a:t>
            </a:r>
            <a:endParaRPr lang="en-US" sz="1500" dirty="0"/>
          </a:p>
        </p:txBody>
      </p:sp>
      <p:sp>
        <p:nvSpPr>
          <p:cNvPr id="7" name="Text 5"/>
          <p:cNvSpPr/>
          <p:nvPr/>
        </p:nvSpPr>
        <p:spPr>
          <a:xfrm>
            <a:off x="995680" y="5100002"/>
            <a:ext cx="282811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8BFCB"/>
                </a:solidFill>
                <a:latin typeface="DM Sans" pitchFamily="34" charset="0"/>
                <a:ea typeface="DM Sans" pitchFamily="34" charset="-122"/>
                <a:cs typeface="DM Sans" pitchFamily="34" charset="-120"/>
              </a:rPr>
              <a:t>Illuminate dark stretches on a journey.</a:t>
            </a:r>
            <a:endParaRPr lang="en-US" sz="1300" dirty="0"/>
          </a:p>
        </p:txBody>
      </p:sp>
      <p:sp>
        <p:nvSpPr>
          <p:cNvPr id="8" name="Shape 6"/>
          <p:cNvSpPr/>
          <p:nvPr/>
        </p:nvSpPr>
        <p:spPr>
          <a:xfrm>
            <a:off x="4054475" y="4640898"/>
            <a:ext cx="3105150" cy="1084580"/>
          </a:xfrm>
          <a:prstGeom prst="roundRect">
            <a:avLst>
              <a:gd name="adj" fmla="val 11417"/>
            </a:avLst>
          </a:prstGeom>
          <a:solidFill>
            <a:srgbClr val="431A37"/>
          </a:solidFill>
          <a:ln w="6350">
            <a:solidFill>
              <a:srgbClr val="5E2B4D"/>
            </a:solidFill>
            <a:prstDash val="solid"/>
          </a:ln>
        </p:spPr>
      </p:sp>
      <p:sp>
        <p:nvSpPr>
          <p:cNvPr id="9" name="Text 7"/>
          <p:cNvSpPr/>
          <p:nvPr/>
        </p:nvSpPr>
        <p:spPr>
          <a:xfrm>
            <a:off x="4234180" y="4820602"/>
            <a:ext cx="28281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B8C8"/>
                </a:solidFill>
                <a:latin typeface="DM Sans" pitchFamily="34" charset="0"/>
                <a:ea typeface="DM Sans" pitchFamily="34" charset="-122"/>
                <a:cs typeface="DM Sans" pitchFamily="34" charset="-120"/>
              </a:rPr>
              <a:t>Monitoring </a:t>
            </a:r>
            <a:endParaRPr lang="en-US" sz="1500" dirty="0"/>
          </a:p>
        </p:txBody>
      </p:sp>
      <p:sp>
        <p:nvSpPr>
          <p:cNvPr id="10" name="Text 8"/>
          <p:cNvSpPr/>
          <p:nvPr/>
        </p:nvSpPr>
        <p:spPr>
          <a:xfrm>
            <a:off x="4234180" y="5100002"/>
            <a:ext cx="282811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8BFCB"/>
                </a:solidFill>
                <a:latin typeface="DM Sans" pitchFamily="34" charset="0"/>
                <a:ea typeface="DM Sans" pitchFamily="34" charset="-122"/>
                <a:cs typeface="DM Sans" pitchFamily="34" charset="-120"/>
              </a:rPr>
              <a:t>To look after you when you trusted contacts are far away </a:t>
            </a:r>
            <a:endParaRPr lang="en-US" sz="1300" dirty="0"/>
          </a:p>
        </p:txBody>
      </p:sp>
      <p:pic>
        <p:nvPicPr>
          <p:cNvPr id="11" name="Image 0" descr="Drone concept screen">    </p:cNvPr>
          <p:cNvPicPr>
            <a:picLocks noChangeAspect="1"/>
          </p:cNvPicPr>
          <p:nvPr/>
        </p:nvPicPr>
        <p:blipFill>
          <a:blip r:embed="rId1"/>
          <a:srcRect l="-545" r="-545" t="0" b="0"/>
          <a:stretch/>
        </p:blipFill>
        <p:spPr>
          <a:xfrm>
            <a:off x="8051800" y="812800"/>
            <a:ext cx="2616200" cy="5232400"/>
          </a:xfrm>
          <a:prstGeom prst="rect">
            <a:avLst/>
          </a:prstGeom>
        </p:spPr>
      </p:pic>
    </p:spTree>
  </p:cSld>
  <p:clrMapOvr>
    <a:masterClrMapping/>
  </p:clrMapOvr>
</p:sld>
</file>

<file path=ppt/theme/theme1.xml><?xml version="1.0" encoding="utf-8"?>
<a:theme xmlns:a="http://schemas.openxmlformats.org/drawingml/2006/main" name="Saheli – reHERsion Pitch Deck">
  <a:themeElements>
    <a:clrScheme name="Saheli – reHERsion Pitch Deck">
      <a:dk1>
        <a:srgbClr val="2E0F26"/>
      </a:dk1>
      <a:lt1>
        <a:srgbClr val="FBF0F3"/>
      </a:lt1>
      <a:dk2>
        <a:srgbClr val="43263B"/>
      </a:dk2>
      <a:lt2>
        <a:srgbClr val="C8B8C0"/>
      </a:lt2>
      <a:accent1>
        <a:srgbClr val="7A3558"/>
      </a:accent1>
      <a:accent2>
        <a:srgbClr val="F2B8C8"/>
      </a:accent2>
      <a:accent3>
        <a:srgbClr val="4A1B38"/>
      </a:accent3>
      <a:accent4>
        <a:srgbClr val="5A2A4C"/>
      </a:accent4>
      <a:accent5>
        <a:srgbClr val="D9A441"/>
      </a:accent5>
      <a:accent6>
        <a:srgbClr val="C94A62"/>
      </a:accent6>
      <a:hlink>
        <a:srgbClr val="0563C1"/>
      </a:hlink>
      <a:folHlink>
        <a:srgbClr val="954F72"/>
      </a:folHlink>
    </a:clrScheme>
    <a:fontScheme name="Saheli – reHERsion Pitch Deck">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Saheli – reHERsion Pitch Deck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2026-10-25T14:13:47Z</dcterms:created>
  <dcterms:modified xsi:type="dcterms:W3CDTF">2026-10-25T14:13:47Z</dcterms:modified>
</cp:coreProperties>
</file>